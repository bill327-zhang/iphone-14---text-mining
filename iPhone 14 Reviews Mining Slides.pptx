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4bc9b923df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4bc9b923df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4bc9b923df_3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4bc9b923df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4bc9b923df_3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4bc9b923df_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4bc9b923df_3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4bc9b923df_3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7.jpg"/><Relationship Id="rId9" Type="http://schemas.openxmlformats.org/officeDocument/2006/relationships/image" Target="../media/image5.png"/><Relationship Id="rId5" Type="http://schemas.openxmlformats.org/officeDocument/2006/relationships/image" Target="../media/image6.jpg"/><Relationship Id="rId6" Type="http://schemas.openxmlformats.org/officeDocument/2006/relationships/image" Target="../media/image3.jpg"/><Relationship Id="rId7" Type="http://schemas.openxmlformats.org/officeDocument/2006/relationships/image" Target="../media/image1.png"/><Relationship Id="rId8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kaggle.com/datasets/shahriarkabir/iphone-14-customer-reviews-dataset-rating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170350"/>
            <a:ext cx="8520600" cy="10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2142"/>
              <a:buFont typeface="Arial"/>
              <a:buNone/>
            </a:pPr>
            <a:r>
              <a:rPr b="1" lang="en" sz="3080">
                <a:solidFill>
                  <a:schemeClr val="lt2"/>
                </a:solidFill>
              </a:rPr>
              <a:t>Mining iPhone14 Reviews</a:t>
            </a:r>
            <a:endParaRPr b="1" sz="3080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221"/>
              <a:buFont typeface="Arial"/>
              <a:buNone/>
            </a:pPr>
            <a:r>
              <a:rPr lang="en" sz="2980">
                <a:solidFill>
                  <a:schemeClr val="lt2"/>
                </a:solidFill>
              </a:rPr>
              <a:t>Uncovering User Sentiment and </a:t>
            </a:r>
            <a:endParaRPr sz="2980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221"/>
              <a:buFont typeface="Arial"/>
              <a:buNone/>
            </a:pPr>
            <a:r>
              <a:rPr lang="en" sz="2980">
                <a:solidFill>
                  <a:schemeClr val="lt2"/>
                </a:solidFill>
              </a:rPr>
              <a:t>Emerging Themes</a:t>
            </a:r>
            <a:endParaRPr sz="2980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CCCCCC"/>
              </a:solidFill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2625" y="1425925"/>
            <a:ext cx="1624084" cy="1082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YarbroWill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84526" y="1425925"/>
            <a:ext cx="1624090" cy="1082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07275" y="1425925"/>
            <a:ext cx="1624100" cy="1082462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2181275" y="2460150"/>
            <a:ext cx="1255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lt2"/>
                </a:solidFill>
              </a:rPr>
              <a:t>Bill Zhang</a:t>
            </a:r>
            <a:endParaRPr i="1" sz="1200">
              <a:solidFill>
                <a:schemeClr val="lt2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4127025" y="2460150"/>
            <a:ext cx="1281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lt2"/>
                </a:solidFill>
              </a:rPr>
              <a:t>Will Yarbro</a:t>
            </a:r>
            <a:endParaRPr i="1" sz="1200">
              <a:solidFill>
                <a:schemeClr val="lt2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5930375" y="2460150"/>
            <a:ext cx="1401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lt2"/>
                </a:solidFill>
              </a:rPr>
              <a:t>Noah Reichman</a:t>
            </a:r>
            <a:endParaRPr i="1" sz="1200">
              <a:solidFill>
                <a:schemeClr val="lt2"/>
              </a:solidFill>
            </a:endParaRPr>
          </a:p>
        </p:txBody>
      </p:sp>
      <p:pic>
        <p:nvPicPr>
          <p:cNvPr id="61" name="Google Shape;61;p13" title="WechatIMG1695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62687" y="3073450"/>
            <a:ext cx="1123949" cy="1123949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"/>
          <p:cNvSpPr txBox="1"/>
          <p:nvPr/>
        </p:nvSpPr>
        <p:spPr>
          <a:xfrm>
            <a:off x="2062600" y="4197400"/>
            <a:ext cx="1124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lt2"/>
                </a:solidFill>
              </a:rPr>
              <a:t>Zhenxuan Shi</a:t>
            </a:r>
            <a:endParaRPr i="1" sz="1200">
              <a:solidFill>
                <a:schemeClr val="lt2"/>
              </a:solidFill>
            </a:endParaRPr>
          </a:p>
        </p:txBody>
      </p:sp>
      <p:pic>
        <p:nvPicPr>
          <p:cNvPr id="63" name="Google Shape;63;p13" title="Photo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61575" y="3046762"/>
            <a:ext cx="870007" cy="117732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 txBox="1"/>
          <p:nvPr/>
        </p:nvSpPr>
        <p:spPr>
          <a:xfrm>
            <a:off x="4101900" y="4197400"/>
            <a:ext cx="940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lt2"/>
                </a:solidFill>
              </a:rPr>
              <a:t>Jiechen Yu</a:t>
            </a:r>
            <a:endParaRPr i="1"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chemeClr val="dk2"/>
              </a:solidFill>
            </a:endParaRPr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7078900" y="4526500"/>
            <a:ext cx="2313900" cy="7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Group 6</a:t>
            </a:r>
            <a:endParaRPr>
              <a:solidFill>
                <a:srgbClr val="999999"/>
              </a:solidFill>
            </a:endParaRPr>
          </a:p>
        </p:txBody>
      </p:sp>
      <p:pic>
        <p:nvPicPr>
          <p:cNvPr id="66" name="Google Shape;66;p13" title="WechatIMG141.jp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84324" y="3052650"/>
            <a:ext cx="870000" cy="114493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3"/>
          <p:cNvSpPr txBox="1"/>
          <p:nvPr/>
        </p:nvSpPr>
        <p:spPr>
          <a:xfrm>
            <a:off x="6107875" y="4197575"/>
            <a:ext cx="8229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lt2"/>
                </a:solidFill>
              </a:rPr>
              <a:t>Bolun Li</a:t>
            </a:r>
            <a:endParaRPr i="1" sz="1200">
              <a:solidFill>
                <a:schemeClr val="lt2"/>
              </a:solidFill>
            </a:endParaRPr>
          </a:p>
        </p:txBody>
      </p:sp>
      <p:pic>
        <p:nvPicPr>
          <p:cNvPr id="68" name="Google Shape;68;p13" title="7655436652_b5fbe1f88a_z.jpg"/>
          <p:cNvPicPr preferRelativeResize="0"/>
          <p:nvPr/>
        </p:nvPicPr>
        <p:blipFill>
          <a:blip r:embed="rId9">
            <a:alphaModFix amt="80000"/>
          </a:blip>
          <a:stretch>
            <a:fillRect/>
          </a:stretch>
        </p:blipFill>
        <p:spPr>
          <a:xfrm>
            <a:off x="8273998" y="-2"/>
            <a:ext cx="870000" cy="87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12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311700" y="97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1820">
                <a:solidFill>
                  <a:srgbClr val="000000"/>
                </a:solidFill>
              </a:rPr>
              <a:t>Mining IPhone 14 reviews reveals customer-driven insights to guide Apple’s product, marketing, and support strategies</a:t>
            </a:r>
            <a:endParaRPr b="1" sz="182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b="1" sz="18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1820"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434875" y="826600"/>
            <a:ext cx="7779000" cy="39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WHAT WE DID: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chemeClr val="dk1"/>
              </a:solidFill>
            </a:endParaRPr>
          </a:p>
          <a:p>
            <a:pPr indent="-213359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Identify major topics discussed in iPhone 14 customer reviews using </a:t>
            </a:r>
            <a:r>
              <a:rPr b="1" lang="en" sz="1200">
                <a:solidFill>
                  <a:schemeClr val="dk1"/>
                </a:solidFill>
              </a:rPr>
              <a:t>Topic Modeling</a:t>
            </a:r>
            <a:endParaRPr b="1" sz="1200">
              <a:solidFill>
                <a:schemeClr val="dk1"/>
              </a:solidFill>
            </a:endParaRPr>
          </a:p>
          <a:p>
            <a:pPr indent="-213359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Analyze customer sentiment trends using </a:t>
            </a:r>
            <a:r>
              <a:rPr b="1" lang="en" sz="1200">
                <a:solidFill>
                  <a:schemeClr val="dk1"/>
                </a:solidFill>
              </a:rPr>
              <a:t>VADER Sentiment Analysis</a:t>
            </a:r>
            <a:endParaRPr b="1" sz="1200">
              <a:solidFill>
                <a:schemeClr val="dk1"/>
              </a:solidFill>
            </a:endParaRPr>
          </a:p>
          <a:p>
            <a:pPr indent="-213359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Provide Apple and mobile retailers with actionable insights to improve marketing and product development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WHY IT MATTERS: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chemeClr val="dk1"/>
              </a:solidFill>
            </a:endParaRPr>
          </a:p>
          <a:p>
            <a:pPr indent="-213359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b="1" lang="en" sz="1200">
                <a:solidFill>
                  <a:schemeClr val="dk1"/>
                </a:solidFill>
              </a:rPr>
              <a:t>Product Development:</a:t>
            </a:r>
            <a:r>
              <a:rPr lang="en" sz="1200">
                <a:solidFill>
                  <a:schemeClr val="dk1"/>
                </a:solidFill>
              </a:rPr>
              <a:t> Understand recurring complaints and praised features</a:t>
            </a:r>
            <a:endParaRPr sz="1200">
              <a:solidFill>
                <a:schemeClr val="dk1"/>
              </a:solidFill>
            </a:endParaRPr>
          </a:p>
          <a:p>
            <a:pPr indent="-213359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b="1" lang="en" sz="1200">
                <a:solidFill>
                  <a:schemeClr val="dk1"/>
                </a:solidFill>
              </a:rPr>
              <a:t>Marketing Strategy:</a:t>
            </a:r>
            <a:r>
              <a:rPr lang="en" sz="1200">
                <a:solidFill>
                  <a:schemeClr val="dk1"/>
                </a:solidFill>
              </a:rPr>
              <a:t> Tailor messages based on regional sentiment and preferences</a:t>
            </a:r>
            <a:endParaRPr sz="1200">
              <a:solidFill>
                <a:schemeClr val="dk1"/>
              </a:solidFill>
            </a:endParaRPr>
          </a:p>
          <a:p>
            <a:pPr indent="-213359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b="1" lang="en" sz="1200">
                <a:solidFill>
                  <a:schemeClr val="dk1"/>
                </a:solidFill>
              </a:rPr>
              <a:t>Customer Support:</a:t>
            </a:r>
            <a:r>
              <a:rPr lang="en" sz="1200">
                <a:solidFill>
                  <a:schemeClr val="dk1"/>
                </a:solidFill>
              </a:rPr>
              <a:t> Identify dissatisfaction patterns to reduce churn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HOW WE DID IT: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chemeClr val="dk1"/>
              </a:solidFill>
            </a:endParaRPr>
          </a:p>
          <a:p>
            <a:pPr indent="-213359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b="1" lang="en" sz="1200">
                <a:solidFill>
                  <a:schemeClr val="dk1"/>
                </a:solidFill>
              </a:rPr>
              <a:t>LDA Topic Modeling:</a:t>
            </a:r>
            <a:r>
              <a:rPr lang="en" sz="1200">
                <a:solidFill>
                  <a:schemeClr val="dk1"/>
                </a:solidFill>
              </a:rPr>
              <a:t> To uncover themes in review content (e.g., camera, battery, performance)</a:t>
            </a:r>
            <a:endParaRPr sz="1200">
              <a:solidFill>
                <a:schemeClr val="dk1"/>
              </a:solidFill>
            </a:endParaRPr>
          </a:p>
          <a:p>
            <a:pPr indent="-213359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b="1" lang="en" sz="1200">
                <a:solidFill>
                  <a:schemeClr val="dk1"/>
                </a:solidFill>
              </a:rPr>
              <a:t>VADER Sentiment Scoring:</a:t>
            </a:r>
            <a:r>
              <a:rPr lang="en" sz="1200">
                <a:solidFill>
                  <a:schemeClr val="dk1"/>
                </a:solidFill>
              </a:rPr>
              <a:t> To evaluate how positively or negatively users feel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WHY THIS DATA WORKS: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chemeClr val="dk1"/>
              </a:solidFill>
            </a:endParaRPr>
          </a:p>
          <a:p>
            <a:pPr indent="-213359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Rich review texts + rating scores allow both unsupervised (topics) and supervised (sentiment polarity) analyses</a:t>
            </a:r>
            <a:endParaRPr sz="1200">
              <a:solidFill>
                <a:schemeClr val="dk1"/>
              </a:solidFill>
            </a:endParaRPr>
          </a:p>
          <a:p>
            <a:pPr indent="-213359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Metadata (location, time) enables segmentation and trend tracking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311700" y="162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1820"/>
              <a:t>Review metadata provides a strong foundation for customer insight and segmentation analysis</a:t>
            </a:r>
            <a:endParaRPr b="1" sz="18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2520"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311700" y="931900"/>
            <a:ext cx="5052300" cy="40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DATA SOURCE: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chemeClr val="dk1"/>
              </a:solidFill>
            </a:endParaRPr>
          </a:p>
          <a:p>
            <a:pPr indent="-213359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Kaggle – “iPhone 14 Customer Reviews Dataset”</a:t>
            </a:r>
            <a:endParaRPr sz="1200">
              <a:solidFill>
                <a:schemeClr val="dk1"/>
              </a:solidFill>
            </a:endParaRPr>
          </a:p>
          <a:p>
            <a:pPr indent="-213359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Sourced from publicly available review platforms</a:t>
            </a:r>
            <a:endParaRPr sz="1200">
              <a:solidFill>
                <a:schemeClr val="dk1"/>
              </a:solidFill>
            </a:endParaRPr>
          </a:p>
          <a:p>
            <a:pPr indent="-213359" lvl="0" marL="36576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Spans multiple geographic regions and time frames</a:t>
            </a:r>
            <a:endParaRPr sz="1200">
              <a:solidFill>
                <a:schemeClr val="dk1"/>
              </a:solidFill>
            </a:endParaRPr>
          </a:p>
          <a:p>
            <a:pPr indent="-213359" lvl="0" marL="36576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Data collected post-iPhone 14 release (late 2022 onward)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WHAT’S IN THE DATA: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chemeClr val="dk1"/>
              </a:solidFill>
            </a:endParaRPr>
          </a:p>
          <a:p>
            <a:pPr indent="-213359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The dataset contains text-based reviews and associated metadata from iPhone 14 customers. Each review includes a title, full review text, rating (1–5), customer name, date, and location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DATA LIMITATIONS: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chemeClr val="dk1"/>
              </a:solidFill>
            </a:endParaRPr>
          </a:p>
          <a:p>
            <a:pPr indent="-213359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b="1" lang="en" sz="1200">
                <a:solidFill>
                  <a:schemeClr val="dk1"/>
                </a:solidFill>
              </a:rPr>
              <a:t>Bias risk: </a:t>
            </a:r>
            <a:r>
              <a:rPr lang="en" sz="1200">
                <a:solidFill>
                  <a:schemeClr val="dk1"/>
                </a:solidFill>
              </a:rPr>
              <a:t>Over-representation of extreme opinions (very good or bad)</a:t>
            </a:r>
            <a:endParaRPr b="1" sz="1200">
              <a:solidFill>
                <a:schemeClr val="dk1"/>
              </a:solidFill>
            </a:endParaRPr>
          </a:p>
          <a:p>
            <a:pPr indent="-213359" lvl="0" marL="36576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b="1" lang="en" sz="1200">
                <a:solidFill>
                  <a:schemeClr val="dk1"/>
                </a:solidFill>
              </a:rPr>
              <a:t>Inconsistent format:</a:t>
            </a:r>
            <a:r>
              <a:rPr lang="en" sz="1200">
                <a:solidFill>
                  <a:schemeClr val="dk1"/>
                </a:solidFill>
              </a:rPr>
              <a:t> Some reviews may lack detailed text</a:t>
            </a:r>
            <a:endParaRPr sz="1200">
              <a:solidFill>
                <a:schemeClr val="dk1"/>
              </a:solidFill>
            </a:endParaRPr>
          </a:p>
          <a:p>
            <a:pPr indent="-213359" lvl="0" marL="36576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b="1" lang="en" sz="1200">
                <a:solidFill>
                  <a:schemeClr val="dk1"/>
                </a:solidFill>
              </a:rPr>
              <a:t>Missing demographics:</a:t>
            </a:r>
            <a:r>
              <a:rPr lang="en" sz="1200">
                <a:solidFill>
                  <a:schemeClr val="dk1"/>
                </a:solidFill>
              </a:rPr>
              <a:t> No age or gender information available</a:t>
            </a:r>
            <a:endParaRPr sz="1200">
              <a:solidFill>
                <a:schemeClr val="dk1"/>
              </a:solidFill>
            </a:endParaRPr>
          </a:p>
          <a:p>
            <a:pPr indent="0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</a:t>
            </a:r>
            <a:endParaRPr sz="1200"/>
          </a:p>
        </p:txBody>
      </p:sp>
      <p:sp>
        <p:nvSpPr>
          <p:cNvPr id="81" name="Google Shape;81;p15"/>
          <p:cNvSpPr txBox="1"/>
          <p:nvPr/>
        </p:nvSpPr>
        <p:spPr>
          <a:xfrm>
            <a:off x="5867700" y="931900"/>
            <a:ext cx="2757900" cy="20343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</a:rPr>
              <a:t>Key Columns:</a:t>
            </a:r>
            <a:endParaRPr b="1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600">
              <a:solidFill>
                <a:schemeClr val="lt2"/>
              </a:solidFill>
            </a:endParaRPr>
          </a:p>
          <a:p>
            <a:pPr indent="-207009" lvl="0" marL="36576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</a:pPr>
            <a:r>
              <a:rPr b="1" lang="en" sz="1100">
                <a:solidFill>
                  <a:schemeClr val="lt2"/>
                </a:solidFill>
              </a:rPr>
              <a:t>Title:</a:t>
            </a:r>
            <a:r>
              <a:rPr lang="en" sz="1100">
                <a:solidFill>
                  <a:schemeClr val="lt2"/>
                </a:solidFill>
              </a:rPr>
              <a:t> Short headline of the review</a:t>
            </a:r>
            <a:endParaRPr sz="1100">
              <a:solidFill>
                <a:schemeClr val="lt2"/>
              </a:solidFill>
            </a:endParaRPr>
          </a:p>
          <a:p>
            <a:pPr indent="-207009" lvl="0" marL="36576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</a:pPr>
            <a:r>
              <a:rPr b="1" lang="en" sz="1100">
                <a:solidFill>
                  <a:schemeClr val="lt2"/>
                </a:solidFill>
              </a:rPr>
              <a:t>Rating:</a:t>
            </a:r>
            <a:r>
              <a:rPr lang="en" sz="1100">
                <a:solidFill>
                  <a:schemeClr val="lt2"/>
                </a:solidFill>
              </a:rPr>
              <a:t> Numeric satisfaction score (1 = poor, 5 = excellent)</a:t>
            </a:r>
            <a:endParaRPr sz="1100">
              <a:solidFill>
                <a:schemeClr val="lt2"/>
              </a:solidFill>
            </a:endParaRPr>
          </a:p>
          <a:p>
            <a:pPr indent="-207009" lvl="0" marL="36576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</a:pPr>
            <a:r>
              <a:rPr b="1" lang="en" sz="1100">
                <a:solidFill>
                  <a:schemeClr val="lt2"/>
                </a:solidFill>
              </a:rPr>
              <a:t>Review:</a:t>
            </a:r>
            <a:r>
              <a:rPr lang="en" sz="1100">
                <a:solidFill>
                  <a:schemeClr val="lt2"/>
                </a:solidFill>
              </a:rPr>
              <a:t> Full customer feedback</a:t>
            </a:r>
            <a:endParaRPr sz="1100">
              <a:solidFill>
                <a:schemeClr val="lt2"/>
              </a:solidFill>
            </a:endParaRPr>
          </a:p>
          <a:p>
            <a:pPr indent="-207009" lvl="0" marL="36576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</a:pPr>
            <a:r>
              <a:rPr b="1" lang="en" sz="1100">
                <a:solidFill>
                  <a:schemeClr val="lt2"/>
                </a:solidFill>
              </a:rPr>
              <a:t>Customer Name:</a:t>
            </a:r>
            <a:r>
              <a:rPr lang="en" sz="1100">
                <a:solidFill>
                  <a:schemeClr val="lt2"/>
                </a:solidFill>
              </a:rPr>
              <a:t> Reviewer identity</a:t>
            </a:r>
            <a:endParaRPr sz="1100">
              <a:solidFill>
                <a:schemeClr val="lt2"/>
              </a:solidFill>
            </a:endParaRPr>
          </a:p>
          <a:p>
            <a:pPr indent="-207009" lvl="0" marL="36576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</a:pPr>
            <a:r>
              <a:rPr b="1" lang="en" sz="1100">
                <a:solidFill>
                  <a:schemeClr val="lt2"/>
                </a:solidFill>
              </a:rPr>
              <a:t>Date:</a:t>
            </a:r>
            <a:r>
              <a:rPr lang="en" sz="1100">
                <a:solidFill>
                  <a:schemeClr val="lt2"/>
                </a:solidFill>
              </a:rPr>
              <a:t> When the review was posted</a:t>
            </a:r>
            <a:endParaRPr sz="1100">
              <a:solidFill>
                <a:schemeClr val="lt2"/>
              </a:solidFill>
            </a:endParaRPr>
          </a:p>
          <a:p>
            <a:pPr indent="-207009" lvl="0" marL="36576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</a:pPr>
            <a:r>
              <a:rPr b="1" lang="en" sz="1100">
                <a:solidFill>
                  <a:schemeClr val="lt2"/>
                </a:solidFill>
              </a:rPr>
              <a:t>Location:</a:t>
            </a:r>
            <a:r>
              <a:rPr lang="en" sz="1100">
                <a:solidFill>
                  <a:schemeClr val="lt2"/>
                </a:solidFill>
              </a:rPr>
              <a:t> Reviewer’s region</a:t>
            </a:r>
            <a:endParaRPr sz="11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88200" y="160975"/>
            <a:ext cx="8967600" cy="71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720"/>
              <a:t>Combining topic modeling and sentiment scoring reveals what users care about</a:t>
            </a:r>
            <a:endParaRPr b="1" sz="1720"/>
          </a:p>
        </p:txBody>
      </p:sp>
      <p:sp>
        <p:nvSpPr>
          <p:cNvPr id="87" name="Google Shape;87;p16"/>
          <p:cNvSpPr/>
          <p:nvPr/>
        </p:nvSpPr>
        <p:spPr>
          <a:xfrm>
            <a:off x="3383250" y="822825"/>
            <a:ext cx="1386900" cy="495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Clean Data</a:t>
            </a:r>
            <a:endParaRPr/>
          </a:p>
        </p:txBody>
      </p:sp>
      <p:sp>
        <p:nvSpPr>
          <p:cNvPr id="88" name="Google Shape;88;p16"/>
          <p:cNvSpPr/>
          <p:nvPr/>
        </p:nvSpPr>
        <p:spPr>
          <a:xfrm>
            <a:off x="3398550" y="1889075"/>
            <a:ext cx="13563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Text Vectorization</a:t>
            </a:r>
            <a:endParaRPr/>
          </a:p>
        </p:txBody>
      </p:sp>
      <p:sp>
        <p:nvSpPr>
          <p:cNvPr id="89" name="Google Shape;89;p16"/>
          <p:cNvSpPr/>
          <p:nvPr/>
        </p:nvSpPr>
        <p:spPr>
          <a:xfrm>
            <a:off x="5825750" y="1889075"/>
            <a:ext cx="2174400" cy="834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Bag-of-word (Topic Modeling)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TF-IDF (Sentiment Analysis)</a:t>
            </a:r>
            <a:endParaRPr sz="1000"/>
          </a:p>
        </p:txBody>
      </p:sp>
      <p:sp>
        <p:nvSpPr>
          <p:cNvPr id="90" name="Google Shape;90;p16"/>
          <p:cNvSpPr/>
          <p:nvPr/>
        </p:nvSpPr>
        <p:spPr>
          <a:xfrm>
            <a:off x="3981450" y="1458150"/>
            <a:ext cx="190500" cy="3366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  <a:highlight>
                <a:srgbClr val="FF0000"/>
              </a:highlight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2146950" y="3134075"/>
            <a:ext cx="1356300" cy="53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Topic Modeling</a:t>
            </a:r>
            <a:endParaRPr/>
          </a:p>
        </p:txBody>
      </p:sp>
      <p:sp>
        <p:nvSpPr>
          <p:cNvPr id="92" name="Google Shape;92;p16"/>
          <p:cNvSpPr/>
          <p:nvPr/>
        </p:nvSpPr>
        <p:spPr>
          <a:xfrm rot="2700000">
            <a:off x="3101707" y="2589821"/>
            <a:ext cx="190495" cy="336441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/>
          <p:nvPr/>
        </p:nvSpPr>
        <p:spPr>
          <a:xfrm>
            <a:off x="4304850" y="3114413"/>
            <a:ext cx="12726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Sentiment Analysis</a:t>
            </a:r>
            <a:endParaRPr/>
          </a:p>
        </p:txBody>
      </p:sp>
      <p:sp>
        <p:nvSpPr>
          <p:cNvPr id="94" name="Google Shape;94;p16"/>
          <p:cNvSpPr/>
          <p:nvPr/>
        </p:nvSpPr>
        <p:spPr>
          <a:xfrm rot="-2700000">
            <a:off x="4845895" y="2589823"/>
            <a:ext cx="190495" cy="336441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6"/>
          <p:cNvSpPr/>
          <p:nvPr/>
        </p:nvSpPr>
        <p:spPr>
          <a:xfrm>
            <a:off x="4119900" y="4017575"/>
            <a:ext cx="16425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Times New Roman"/>
              <a:buChar char="●"/>
            </a:pP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VADER Lexicon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6" name="Google Shape;96;p16"/>
          <p:cNvCxnSpPr>
            <a:stCxn id="88" idx="3"/>
            <a:endCxn id="89" idx="1"/>
          </p:cNvCxnSpPr>
          <p:nvPr/>
        </p:nvCxnSpPr>
        <p:spPr>
          <a:xfrm>
            <a:off x="4754850" y="2175425"/>
            <a:ext cx="1071000" cy="13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" name="Google Shape;97;p16"/>
          <p:cNvCxnSpPr>
            <a:stCxn id="91" idx="2"/>
          </p:cNvCxnSpPr>
          <p:nvPr/>
        </p:nvCxnSpPr>
        <p:spPr>
          <a:xfrm flipH="1">
            <a:off x="2819700" y="3667475"/>
            <a:ext cx="5400" cy="35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" name="Google Shape;98;p16"/>
          <p:cNvSpPr/>
          <p:nvPr/>
        </p:nvSpPr>
        <p:spPr>
          <a:xfrm>
            <a:off x="1174225" y="4000500"/>
            <a:ext cx="26769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Times New Roman"/>
              <a:buChar char="●"/>
            </a:pP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LDA (Battery, delivery, camera, etc…)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9" name="Google Shape;99;p16"/>
          <p:cNvCxnSpPr>
            <a:stCxn id="93" idx="2"/>
            <a:endCxn id="95" idx="0"/>
          </p:cNvCxnSpPr>
          <p:nvPr/>
        </p:nvCxnSpPr>
        <p:spPr>
          <a:xfrm>
            <a:off x="4941150" y="3687113"/>
            <a:ext cx="0" cy="33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/>
          <p:nvPr>
            <p:ph type="title"/>
          </p:nvPr>
        </p:nvSpPr>
        <p:spPr>
          <a:xfrm>
            <a:off x="311700" y="289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References</a:t>
            </a:r>
            <a:endParaRPr b="1"/>
          </a:p>
        </p:txBody>
      </p:sp>
      <p:sp>
        <p:nvSpPr>
          <p:cNvPr id="105" name="Google Shape;10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3"/>
              </a:rPr>
              <a:t>https://www.kaggle.com/datasets/shahriarkabir/iphone-14-customer-reviews-dataset-ratings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